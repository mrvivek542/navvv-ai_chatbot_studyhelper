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784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StudyMind AI</a:t>
            </a:r>
          </a:p>
          <a:p>
            <a:pPr>
              <a:spcBef>
                <a:spcPts val="800"/>
              </a:spcBef>
              <a:defRPr sz="2200" b="1">
                <a:solidFill>
                  <a:srgbClr val="38BDF8"/>
                </a:solidFill>
              </a:defRPr>
            </a:pPr>
            <a:r>
              <a:t>Java-Powered Context-Grounded Academic Study Assistant 🧠</a:t>
            </a:r>
          </a:p>
          <a:p>
            <a:pPr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An interactive, multi-turn AI tutor engineered with Java 21, Spring Boot 3.3.4, Apache PDFBox, and Google Gemini API — featuring In-Memory RAG, Active Recall tools, and Enterprise Security Hardening.</a:t>
            </a:r>
          </a:p>
          <a:p>
            <a:pPr>
              <a:spcBef>
                <a:spcPts val="2000"/>
              </a:spcBef>
              <a:defRPr sz="1300">
                <a:solidFill>
                  <a:srgbClr val="34D399"/>
                </a:solidFill>
              </a:defRPr>
            </a:pPr>
            <a:r>
              <a:t>Author / Team: B.Tech AIML • University Evaluation Project Board • Technology: Java 21 | Spring Boot |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THE CHALLENGE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1. Textbook &amp; Notes Overload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Students navigate 100+ page PDFs, lecture slides, and notes before exams with very limited revision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1663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2. AI Hallucination in Generic Bots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General AI chatbots invent non-existent formulas or facts without citing specific course textbook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663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3. Heavy Vector DB Complexity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Standard Python AI apps demand heavy external vector databases, Docker containers, and high server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1663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20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4. The StudyMind Solution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A 100% Java-native, lightweight RAG assistant with in-memory TF-IDF search, strict citations, and active recall.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FEATURES &amp;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Capabilities — What StudyMind AI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🤖 AI Academic Mentor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Multi-turn natural conversation that remembers prior doubts and explains complex concepts step-by-step.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📄 Study Material Extraction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Upload PDF or TXT files (up to 5 MB). Page-by-page text parsing via Apache PDFBox 3.x with zero data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🔍 Zero-Hallucination RAG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Calculates TF-IDF similarity in pure Java. If an answer isn't in notes, it refuses to hallucinate 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📍 Page-Level Citations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Every grounded AI answer references the exact source: e.g. [Source: Os_Notes.pdf, Page 14].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⚡ Active Recall Revision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One-click generation of: 1) Structured Summaries, 2) 5 MCQs with Explanations, 3) 5 Self-Test Flashcards.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31920"/>
            <a:ext cx="34290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114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📺 YouTube to Notes &amp; Exports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Summarizes video lectures via URL. One-click note exports to downloadable PDF and Excel (.xlsx)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CLEAN LAYERED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Backend &amp; Web Tier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Java 21 LTS (Modern Syntax)</a:t>
            </a:r>
            <a:br/>
            <a:r>
              <a:t>• Spring Boot 3.3.4 (MVC, REST)</a:t>
            </a:r>
            <a:br/>
            <a:r>
              <a:t>• Spring Security 6.x (RBAC)</a:t>
            </a:r>
            <a:br/>
            <a:r>
              <a:t>• Spring Data JPA &amp; Hibernate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RAG &amp; Ingestion Engine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Apache PDFBox 3.0.3 (PDF parsing)</a:t>
            </a:r>
            <a:br/>
            <a:r>
              <a:t>• Apache POI 5.3.0 (Excel I/O)</a:t>
            </a:r>
            <a:br/>
            <a:r>
              <a:t>• Pure Java TF-IDF similarity algorithm</a:t>
            </a:r>
            <a:br/>
            <a:r>
              <a:t>• Sliding-window text chunker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AI &amp; Persistence Layer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Google Gemini API (Flash-Lite / Pro)</a:t>
            </a:r>
            <a:br/>
            <a:r>
              <a:t>• java.net.http.HttpClient</a:t>
            </a:r>
            <a:br/>
            <a:r>
              <a:t>• Embedded H2 Database (File-backed)</a:t>
            </a:r>
            <a:br/>
            <a:r>
              <a:t>• BCrypt Password Encryptor (12 rounds)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Frontend &amp; User Experience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Responsive Slate &amp; Indigo UI</a:t>
            </a:r>
            <a:br/>
            <a:r>
              <a:t>• HTML5, CSS3, Vanilla JS</a:t>
            </a:r>
            <a:br/>
            <a:r>
              <a:t>• Thymeleaf Template Engine</a:t>
            </a:r>
            <a:br/>
            <a:r>
              <a:t>• Live typing &amp; active session drawer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SOFTWARE 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OOP Principles Applied in Codebase (For Viva)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✦ Abstraction &amp; DIP  </a:t>
            </a:r>
            <a:r>
              <a:rPr sz="1200">
                <a:solidFill>
                  <a:srgbClr val="34D399"/>
                </a:solidFill>
              </a:rPr>
              <a:t>(AIService.java)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Controllers depend on the AIService interface rather than hardcoded HTTP clients. Low-level networking is completely abstracted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✦ Polymorphism  </a:t>
            </a:r>
            <a:r>
              <a:rPr sz="1200">
                <a:solidFill>
                  <a:srgbClr val="34D399"/>
                </a:solidFill>
              </a:rPr>
              <a:t>(GeminiAIService.java)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Implements AIService. Easily interchangeable with Claude or OpenAI implementations without altering application controllers.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✦ Encapsulation  </a:t>
            </a:r>
            <a:r>
              <a:rPr sz="1200">
                <a:solidFill>
                  <a:srgbClr val="34D399"/>
                </a:solidFill>
              </a:rPr>
              <a:t>(Entities &amp; DTOs)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Private state in Conversation, ChatMessage, and TextChunk classes protected with validated getters, setters, and constructors.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✦ Composition  </a:t>
            </a:r>
            <a:r>
              <a:rPr sz="1200">
                <a:solidFill>
                  <a:srgbClr val="34D399"/>
                </a:solidFill>
              </a:rPr>
              <a:t>(One-to-Many Association)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Conversation entity has-a collection of ChatMessage entities mapped via JPA @OneToMany(mappedBy = 'conversation').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✦ Single Responsibility (SRP)  </a:t>
            </a:r>
            <a:r>
              <a:rPr sz="1200">
                <a:solidFill>
                  <a:srgbClr val="34D399"/>
                </a:solidFill>
              </a:rPr>
              <a:t>(Service Layer Modularization)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DocumentIngestionService (parsing), TextChunkingService (segmentation), KeywordSimilaritySearchService (ranking).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✦ Defensive Programming  </a:t>
            </a:r>
            <a:r>
              <a:rPr sz="1200">
                <a:solidFill>
                  <a:srgbClr val="34D399"/>
                </a:solidFill>
              </a:rPr>
              <a:t>(GlobalExceptionHandler)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Centralized AOP interceptor catches MaxUploadSize and illegal states, preventing stack trace leaks.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How the RAG Pipeline Works (Step-by-Step)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PDF Ingestion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DocumentIngestionService extracts text page-by-page with Apache PDFBox 3.x.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Text Chunking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TextChunkingService segments text into ~500-word blocks with 50-word sliding overlap.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TF-IDF Retrieval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KeywordSimilaritySearchService calculates Term Frequency &amp; Inverse Document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Context Injection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Top 3 highest-scoring chunks are injected into prompt template with strict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Grounded Response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Gemini API returns answer with page citations [Page X] or activates anti-hallucination guard.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USER MANUAL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How To Use StudyMind AI — Complete User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1. Launch with One Click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Double-click 'run.bat' on Windows or execute 'mvn spring-boot:run'. The server starts locally on port 8080.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2. Access Web Interface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Open your browser at http://localhost:8080. The sleek dark-theme StudyMind dashboard appears.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Upload Course Materials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Click 'Upload Study File' in sidebar. Upload PDF, TXT, or Excel files (up to 5 MB). Page counts appear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4. Ask Questions in Natural Language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Type your queries in chat (e.g. 'Explain Page 4 theorem'). The AI mentor cites exact 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5. Use Active Recall Tools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Click 'Summary', '5 MCQs', or '5 Flashcards' for instant exam prep. Paste YouTube URLs for lecture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51663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6. Download Study Notes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Click 'Export PDF' or 'Export Excel' to download your revision notes for offline revision.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DEFENSIVE SECURITY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Enterprise Security Hardening &amp; Privacy Defenses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6366F1"/>
                </a:solidFill>
              </a:defRPr>
            </a:pPr>
            <a:r>
              <a:t>Role-Based Access (RBAC)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Spring Security blocks /h2-console and /admin routes behind ROLE_ADMIN. Password encrypted with BCrypt (12 rounds).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Rate Limiting (DoS Defense)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RateLimitingFilter limits IPs to 120 req/min (30 req/min for AI endpoints), preventing abuse and budget exhaustion.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4D399"/>
                </a:solidFill>
              </a:defRPr>
            </a:pPr>
            <a:r>
              <a:t>XSS &amp; Injection Sanitization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InputSanitizer uses Jsoup Safelist.none() to strip scripts, and neutralizes Excel formula injection (=, +, -, @).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818CF8"/>
                </a:solidFill>
              </a:defRPr>
            </a:pPr>
            <a:r>
              <a:t>Zero Secret Leaks in Git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API keys injected via $env:GEMINI_API_KEY. Git log verified clean. .gitignore excludes DB, logs, and secrets.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6366F1"/>
                </a:solidFill>
              </a:defRPr>
            </a:pPr>
            <a:r>
              <a:t>Hardened Security Headers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Enforces CSP, X-Frame-Options: SAMEORIGIN (clickjack defense), and X-Content-Type-Options: nosniff.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31920"/>
            <a:ext cx="34290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114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Error Masking &amp; SSRF Defense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Server stack traces hidden from users; YouTube URLs restricted strictly to validated YouTube hostnames.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DATA TIER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Database Architecture &amp; Session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Embedded Persistent H2 Database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Storage File: ./data/studymind_db.mv.db</a:t>
            </a:r>
            <a:br/>
            <a:r>
              <a:t>• Zero Installation: Self-contained embedded database</a:t>
            </a:r>
            <a:br/>
            <a:r>
              <a:t>• Persistent across application restarts</a:t>
            </a:r>
            <a:br/>
            <a:r>
              <a:t>• Spring Data JPA Repositories (Conversation &amp; ChatMessage)</a:t>
            </a:r>
            <a:br/>
            <a:r>
              <a:t>• Protected Console: Accessible at /h2-console with admin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JPA Entity Relationships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Conversation Entity (Parent):</a:t>
            </a:r>
            <a:br/>
            <a:r>
              <a:t>  - id (Long, PK)</a:t>
            </a:r>
            <a:br/>
            <a:r>
              <a:t>  - title (String)</a:t>
            </a:r>
            <a:br/>
            <a:r>
              <a:t>  - createdAt (LocalDateTime)</a:t>
            </a:r>
            <a:br/>
            <a:r>
              <a:t>  - messages (List&lt;ChatMessage&gt;, @OneToMany)</a:t>
            </a:r>
            <a:br/>
            <a:br/>
            <a:r>
              <a:t>ChatMessage Entity (Child):</a:t>
            </a:r>
            <a:br/>
            <a:r>
              <a:t>  - id (Long, PK)</a:t>
            </a:r>
            <a:br/>
            <a:r>
              <a:t>  - sender ('user' / 'assistant')</a:t>
            </a:r>
            <a:br/>
            <a:r>
              <a:t>  - content (Text, Sanitized)</a:t>
            </a:r>
            <a:br/>
            <a:r>
              <a:t>  - citations (Source filename &amp; page number)</a:t>
            </a:r>
            <a:br/>
            <a:r>
              <a:t>  - conversation (@ManyToOne)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PROJECT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Summary, Future Scope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Key Project Takeaways</a:t>
            </a:r>
          </a:p>
          <a:p>
            <a:pPr>
              <a:spcBef>
                <a:spcPts val="1000"/>
              </a:spcBef>
              <a:defRPr sz="1400">
                <a:solidFill>
                  <a:srgbClr val="38BDF8"/>
                </a:solidFill>
              </a:defRPr>
            </a:pPr>
            <a:r>
              <a:t>✔ Production-Ready Full-Stack AI: Java 21 + Spring Boot 3.3.4 + Gemini 3.5.</a:t>
            </a:r>
            <a:br/>
            <a:r>
              <a:t>✔ Context-Grounded RAG: 100% in-memory TF-IDF with exact page-level citations.</a:t>
            </a:r>
            <a:br/>
            <a:r>
              <a:t>✔ Anti-Hallucination Guardrail: Solves AI inaccuracy for students.</a:t>
            </a:r>
            <a:br/>
            <a:r>
              <a:t>✔ Comprehensive Active Recall: Summaries, MCQs, Flashcards, and YouTube note parser.</a:t>
            </a:r>
            <a:br/>
            <a:r>
              <a:t>✔ Enterprise Security: Spring Security RBAC, BCrypt, IP Rate Limiter, and XSS sanitizers.</a:t>
            </a:r>
          </a:p>
          <a:p>
            <a:pPr>
              <a:spcBef>
                <a:spcPts val="1800"/>
              </a:spcBef>
              <a:defRPr sz="1700" b="1">
                <a:solidFill>
                  <a:srgbClr val="34D399"/>
                </a:solidFill>
              </a:defRPr>
            </a:pPr>
            <a:r>
              <a:t>Future Roadmap:</a:t>
            </a:r>
          </a:p>
          <a:p>
            <a:pPr>
              <a:spcBef>
                <a:spcPts val="800"/>
              </a:spcBef>
              <a:defRPr sz="1350">
                <a:solidFill>
                  <a:srgbClr val="94A3B8"/>
                </a:solidFill>
              </a:defRPr>
            </a:pPr>
            <a:r>
              <a:t>• Transition from TF-IDF to dense vector embeddings with pgvector or Milvus.</a:t>
            </a:r>
            <a:br/>
            <a:r>
              <a:t>• Cross-document synthesis for comparative exam study.</a:t>
            </a:r>
            <a:br/>
            <a:r>
              <a:t>• Audio Flashcard playback via Web Speech API / TTS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